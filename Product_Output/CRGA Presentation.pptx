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6AD"/>
    <a:srgbClr val="00B0CA"/>
    <a:srgbClr val="DEF3FE"/>
    <a:srgbClr val="D5FA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6993"/>
    <p:restoredTop sz="94660"/>
  </p:normalViewPr>
  <p:slideViewPr>
    <p:cSldViewPr snapToGrid="0">
      <p:cViewPr varScale="1">
        <p:scale>
          <a:sx d="100" n="144"/>
          <a:sy d="100" n="144"/>
        </p:scale>
        <p:origin x="84" y="472"/>
      </p:cViewPr>
      <p:guideLst/>
    </p:cSldViewPr>
  </p:slideViewPr>
  <p:notesTextViewPr>
    <p:cViewPr>
      <p:scale>
        <a:sx d="2" n="3"/>
        <a:sy d="2" n="3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10" Type="http://schemas.openxmlformats.org/officeDocument/2006/relationships/viewProps" Target="viewProps.xml" /><Relationship Id="rId3" Type="http://schemas.openxmlformats.org/officeDocument/2006/relationships/customXml" Target="../customXml/item3.xml" /><Relationship Id="rId9" Type="http://schemas.openxmlformats.org/officeDocument/2006/relationships/presProps" Target="presProps.xml" /><Relationship Id="rId2" Type="http://schemas.openxmlformats.org/officeDocument/2006/relationships/customXml" Target="../customXml/item2.xml" /><Relationship Id="rId1" Type="http://schemas.openxmlformats.org/officeDocument/2006/relationships/customXml" Target="../customXml/item1.xml" /><Relationship Id="rId12" Type="http://schemas.openxmlformats.org/officeDocument/2006/relationships/tableStyles" Target="tableStyles.xml" /><Relationship Id="rId4" Type="http://schemas.openxmlformats.org/officeDocument/2006/relationships/slideMaster" Target="slideMasters/slideMaster1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CA714-9302-4F78-8284-842B920EF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46" y="1891227"/>
            <a:ext cx="6736080" cy="2387600"/>
          </a:xfrm>
        </p:spPr>
        <p:txBody>
          <a:bodyPr anchor="b" anchorCtr="0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0BE79B-66B3-4535-868E-13C4FF6E6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9046" y="4441765"/>
            <a:ext cx="6736080" cy="583882"/>
          </a:xfrm>
        </p:spPr>
        <p:txBody>
          <a:bodyPr anchor="t" anchorCtr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E2576-EA73-40E8-A2F2-A62B73E3C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E880D-16D1-4539-9948-C2240ACC59CA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5CCD9-36E9-4809-B113-D53B5EBE8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D451D-CA62-47FA-92B4-ED2D8FCD9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61154-064F-4AC5-84EA-549FDD985C1D}" type="slidenum">
              <a:rPr lang="fr-FR" smtClean="0"/>
              <a:t>‹#›</a:t>
            </a:fld>
            <a:endParaRPr lang="fr-FR"/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92767241-17BF-8AFF-B9BE-875195288E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21263" cy="6858000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0847052D-DE93-DF88-3AAA-CB2675B707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13" r="-1"/>
          <a:stretch/>
        </p:blipFill>
        <p:spPr>
          <a:xfrm>
            <a:off x="9781162" y="80160"/>
            <a:ext cx="1783964" cy="9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72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2EE8B-A420-482C-AA8F-161CF5617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8087" y="1254826"/>
            <a:ext cx="11094536" cy="55230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>
                <a:solidFill>
                  <a:srgbClr val="0070C0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aseline="0">
                <a:solidFill>
                  <a:srgbClr val="0070C0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rgbClr val="0070C0"/>
                </a:solidFill>
              </a:defRPr>
            </a:lvl3pPr>
            <a:lvl4pPr>
              <a:lnSpc>
                <a:spcPct val="100000"/>
              </a:lnSpc>
              <a:spcAft>
                <a:spcPts val="600"/>
              </a:spcAft>
              <a:defRPr sz="1200">
                <a:solidFill>
                  <a:srgbClr val="0070C0"/>
                </a:solidFill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sz="1200">
                <a:solidFill>
                  <a:srgbClr val="0070C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CB40F-0903-4B7E-8BF4-FABD7BA25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E880D-16D1-4539-9948-C2240ACC59CA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AB605-A5E2-4DE4-9DDB-979FC3696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8B41D-0106-4F2E-8CAF-6F6AA9375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61154-064F-4AC5-84EA-549FDD985C1D}" type="slidenum">
              <a:rPr lang="fr-FR" smtClean="0"/>
              <a:t>‹#›</a:t>
            </a:fld>
            <a:endParaRPr lang="fr-FR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B70209C-55AC-7EDB-1AE6-8DA0F85A8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234" y="136524"/>
            <a:ext cx="10219239" cy="915635"/>
          </a:xfrm>
        </p:spPr>
        <p:txBody>
          <a:bodyPr anchor="t">
            <a:noAutofit/>
          </a:bodyPr>
          <a:lstStyle>
            <a:lvl1pPr>
              <a:defRPr sz="4400">
                <a:solidFill>
                  <a:srgbClr val="00B0CA"/>
                </a:solidFill>
              </a:defRPr>
            </a:lvl1pPr>
          </a:lstStyle>
          <a:p>
            <a:r>
              <a:rPr lang="en-US" dirty="0"/>
              <a:t>Title</a:t>
            </a:r>
            <a:endParaRPr lang="fr-FR" dirty="0"/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F6086CD8-7569-EBDF-AE07-CE93B56564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13" r="-1"/>
          <a:stretch/>
        </p:blipFill>
        <p:spPr>
          <a:xfrm>
            <a:off x="9781162" y="80160"/>
            <a:ext cx="1783964" cy="9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126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2EE8B-A420-482C-AA8F-161CF5617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145" y="1254826"/>
            <a:ext cx="11384478" cy="552301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4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accent2">
                    <a:lumMod val="60000"/>
                    <a:lumOff val="40000"/>
                  </a:schemeClr>
                </a:solidFill>
              </a:defRPr>
            </a:lvl3pPr>
            <a:lvl4pPr>
              <a:defRPr sz="1100">
                <a:solidFill>
                  <a:schemeClr val="accent6">
                    <a:lumMod val="75000"/>
                  </a:schemeClr>
                </a:solidFill>
              </a:defRPr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CB40F-0903-4B7E-8BF4-FABD7BA25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E880D-16D1-4539-9948-C2240ACC59CA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AB605-A5E2-4DE4-9DDB-979FC3696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8B41D-0106-4F2E-8CAF-6F6AA9375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61154-064F-4AC5-84EA-549FDD985C1D}" type="slidenum">
              <a:rPr lang="fr-FR" smtClean="0"/>
              <a:t>‹#›</a:t>
            </a:fld>
            <a:endParaRPr lang="fr-FR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B70209C-55AC-7EDB-1AE6-8DA0F85A8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874" y="136524"/>
            <a:ext cx="10515600" cy="915635"/>
          </a:xfrm>
        </p:spPr>
        <p:txBody>
          <a:bodyPr anchor="t">
            <a:noAutofit/>
          </a:bodyPr>
          <a:lstStyle>
            <a:lvl1pPr>
              <a:defRPr sz="4400">
                <a:solidFill>
                  <a:srgbClr val="00B0CA"/>
                </a:solidFill>
              </a:defRPr>
            </a:lvl1pPr>
          </a:lstStyle>
          <a:p>
            <a:r>
              <a:rPr lang="en-US" dirty="0"/>
              <a:t>Title</a:t>
            </a:r>
            <a:endParaRPr lang="fr-FR" dirty="0"/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F6086CD8-7569-EBDF-AE07-CE93B56564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13" r="-1"/>
          <a:stretch/>
        </p:blipFill>
        <p:spPr>
          <a:xfrm>
            <a:off x="9781162" y="80160"/>
            <a:ext cx="1783964" cy="9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947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2EE8B-A420-482C-AA8F-161CF5617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145" y="1254826"/>
            <a:ext cx="11384478" cy="552301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4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accent2">
                    <a:lumMod val="60000"/>
                    <a:lumOff val="40000"/>
                  </a:schemeClr>
                </a:solidFill>
              </a:defRPr>
            </a:lvl3pPr>
            <a:lvl4pPr>
              <a:defRPr sz="1100">
                <a:solidFill>
                  <a:schemeClr val="accent6">
                    <a:lumMod val="75000"/>
                  </a:schemeClr>
                </a:solidFill>
              </a:defRPr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CB40F-0903-4B7E-8BF4-FABD7BA25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E880D-16D1-4539-9948-C2240ACC59CA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AB605-A5E2-4DE4-9DDB-979FC3696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8B41D-0106-4F2E-8CAF-6F6AA9375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61154-064F-4AC5-84EA-549FDD985C1D}" type="slidenum">
              <a:rPr lang="fr-FR" smtClean="0"/>
              <a:t>‹#›</a:t>
            </a:fld>
            <a:endParaRPr lang="fr-FR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B70209C-55AC-7EDB-1AE6-8DA0F85A8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874" y="136524"/>
            <a:ext cx="10515600" cy="915635"/>
          </a:xfrm>
        </p:spPr>
        <p:txBody>
          <a:bodyPr anchor="t">
            <a:noAutofit/>
          </a:bodyPr>
          <a:lstStyle>
            <a:lvl1pPr>
              <a:defRPr sz="4400">
                <a:solidFill>
                  <a:srgbClr val="00B0CA"/>
                </a:solidFill>
              </a:defRPr>
            </a:lvl1pPr>
          </a:lstStyle>
          <a:p>
            <a:r>
              <a:rPr lang="en-US" dirty="0"/>
              <a:t>Title</a:t>
            </a:r>
            <a:endParaRPr lang="fr-FR" dirty="0"/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F6086CD8-7569-EBDF-AE07-CE93B56564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13" r="-1"/>
          <a:stretch/>
        </p:blipFill>
        <p:spPr>
          <a:xfrm>
            <a:off x="9781162" y="80160"/>
            <a:ext cx="1783964" cy="9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018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02A15-9DC6-4F18-A8CA-822A6ECB32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9526" y="1801881"/>
            <a:ext cx="5181600" cy="413473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B36924-1628-4793-A109-B217B6E4E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526" y="1801881"/>
            <a:ext cx="5181600" cy="413473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B3672-26D8-4D46-B9DE-6B2D27E6A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E880D-16D1-4539-9948-C2240ACC59CA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59EA9-83A3-477E-9E11-11C501E32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8C123-B7F5-4FD2-9435-71E4F724D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61154-064F-4AC5-84EA-549FDD985C1D}" type="slidenum">
              <a:rPr lang="fr-FR" smtClean="0"/>
              <a:t>‹#›</a:t>
            </a:fld>
            <a:endParaRPr lang="fr-FR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008A5D2-D9D8-987B-E3D9-B66316B5AA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7408" y="136525"/>
            <a:ext cx="10175065" cy="817632"/>
          </a:xfrm>
        </p:spPr>
        <p:txBody>
          <a:bodyPr anchor="t">
            <a:noAutofit/>
          </a:bodyPr>
          <a:lstStyle>
            <a:lvl1pPr>
              <a:defRPr sz="4400">
                <a:solidFill>
                  <a:srgbClr val="00B0CA"/>
                </a:solidFill>
              </a:defRPr>
            </a:lvl1pPr>
          </a:lstStyle>
          <a:p>
            <a:r>
              <a:rPr lang="en-US" dirty="0"/>
              <a:t>Title</a:t>
            </a:r>
            <a:endParaRPr lang="fr-FR" dirty="0"/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9F086F6D-1869-06EA-C5D3-A51C336F80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13" r="-1"/>
          <a:stretch/>
        </p:blipFill>
        <p:spPr>
          <a:xfrm>
            <a:off x="9781162" y="80160"/>
            <a:ext cx="1783964" cy="9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729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AC94549-5071-4DBF-B0E3-39806E449D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738" y="1592510"/>
            <a:ext cx="3291578" cy="41347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B69AF1D-5AE6-496F-9BC9-B625966CEA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5569" y="1600171"/>
            <a:ext cx="3291578" cy="41347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 dirty="0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80CBA766-0D8C-49E1-A44D-66671B545693}"/>
              </a:ext>
            </a:extLst>
          </p:cNvPr>
          <p:cNvSpPr txBox="1">
            <a:spLocks/>
          </p:cNvSpPr>
          <p:nvPr userDrawn="1"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1E880D-16D1-4539-9948-C2240ACC59CA}" type="datetimeFigureOut">
              <a:rPr lang="fr-FR" smtClean="0"/>
              <a:pPr/>
              <a:t>18/04/2025</a:t>
            </a:fld>
            <a:endParaRPr lang="fr-FR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5247DC72-BEB6-409B-8BDD-1A1131638554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861154-064F-4AC5-84EA-549FDD985C1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FDA17A-0E28-4795-BD73-A8EFAD0C3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E880D-16D1-4539-9948-C2240ACC59CA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91DDBC-065E-4D49-8735-94AFFE054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4239D6-49DF-40DF-A7AC-008B9C5A5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61154-064F-4AC5-84EA-549FDD985C1D}" type="slidenum">
              <a:rPr lang="fr-FR" smtClean="0"/>
              <a:t>‹#›</a:t>
            </a:fld>
            <a:endParaRPr lang="fr-FR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2A83EFD6-87FF-4AB7-8A5B-3BB13A6B5E2A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53400" y="1600171"/>
            <a:ext cx="3291578" cy="41347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5D7CF17-D637-6F4A-F9C5-B868228036ED}"/>
              </a:ext>
            </a:extLst>
          </p:cNvPr>
          <p:cNvSpPr txBox="1">
            <a:spLocks/>
          </p:cNvSpPr>
          <p:nvPr userDrawn="1"/>
        </p:nvSpPr>
        <p:spPr>
          <a:xfrm>
            <a:off x="1025624" y="372856"/>
            <a:ext cx="10515600" cy="10092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B0C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</a:t>
            </a:r>
            <a:endParaRPr lang="fr-FR" dirty="0"/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ED7F7A6C-FDB7-FF7B-464B-09315DC9CB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13" r="-1"/>
          <a:stretch/>
        </p:blipFill>
        <p:spPr>
          <a:xfrm>
            <a:off x="9781162" y="80160"/>
            <a:ext cx="1783964" cy="9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006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7D3B5-5147-4C75-982C-4343F93747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Divider Chapter Slide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C5762-9132-4ACE-8BCC-7261A3C05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0046AD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A38CB-A948-465D-80D8-92EA3137C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E880D-16D1-4539-9948-C2240ACC59CA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BAB24-1757-4627-856C-81AC996DC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F7060-A99B-410E-B6C2-BDD91AFBA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61154-064F-4AC5-84EA-549FDD985C1D}" type="slidenum">
              <a:rPr lang="fr-FR" smtClean="0"/>
              <a:t>‹#›</a:t>
            </a:fld>
            <a:endParaRPr lang="fr-FR"/>
          </a:p>
        </p:txBody>
      </p:sp>
      <p:pic>
        <p:nvPicPr>
          <p:cNvPr id="8" name="Picture 7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7254DA3-BF0D-4FCF-BF4A-C8C9621AE8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4" t="18038" r="4056" b="80046"/>
          <a:stretch/>
        </p:blipFill>
        <p:spPr>
          <a:xfrm>
            <a:off x="626875" y="1237014"/>
            <a:ext cx="11069826" cy="131411"/>
          </a:xfrm>
          <a:prstGeom prst="rect">
            <a:avLst/>
          </a:prstGeom>
        </p:spPr>
      </p:pic>
      <p:pic>
        <p:nvPicPr>
          <p:cNvPr id="9" name="Picture 8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90E9DF43-318F-41D9-8DC9-04DEED7AC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993"/>
          <a:stretch/>
        </p:blipFill>
        <p:spPr>
          <a:xfrm>
            <a:off x="1" y="0"/>
            <a:ext cx="588854" cy="6858000"/>
          </a:xfrm>
          <a:prstGeom prst="rect">
            <a:avLst/>
          </a:prstGeom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0AE8A7F8-A329-CD60-1160-45B9C9132F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13" r="-1"/>
          <a:stretch/>
        </p:blipFill>
        <p:spPr>
          <a:xfrm>
            <a:off x="9781162" y="80160"/>
            <a:ext cx="1783964" cy="9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201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-certificates et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11D53162-33EF-4CED-99DB-E85F0CB5BB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" y="-9564"/>
            <a:ext cx="12190095" cy="6858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4669462-A299-40A0-81EC-EF072D29E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624" y="1860164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4D5D13C-BD49-9C79-9B97-1396072B4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5624" y="554600"/>
            <a:ext cx="10515600" cy="1009292"/>
          </a:xfrm>
        </p:spPr>
        <p:txBody>
          <a:bodyPr anchor="t">
            <a:noAutofit/>
          </a:bodyPr>
          <a:lstStyle>
            <a:lvl1pPr>
              <a:defRPr sz="4400">
                <a:solidFill>
                  <a:srgbClr val="00B0CA"/>
                </a:solidFill>
              </a:defRPr>
            </a:lvl1pPr>
          </a:lstStyle>
          <a:p>
            <a:r>
              <a:rPr lang="en-US" dirty="0"/>
              <a:t>Title</a:t>
            </a:r>
            <a:endParaRPr lang="fr-FR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B0C528C1-3695-4BCB-8100-2CA127858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13" r="-1"/>
          <a:stretch/>
        </p:blipFill>
        <p:spPr>
          <a:xfrm>
            <a:off x="9781162" y="313024"/>
            <a:ext cx="1783964" cy="9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281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F00C6B7-69E3-4CA4-A6B4-C868D0CB7DBC}"/>
              </a:ext>
            </a:extLst>
          </p:cNvPr>
          <p:cNvSpPr/>
          <p:nvPr userDrawn="1"/>
        </p:nvSpPr>
        <p:spPr>
          <a:xfrm>
            <a:off x="836611" y="457200"/>
            <a:ext cx="3935413" cy="5403850"/>
          </a:xfrm>
          <a:prstGeom prst="rect">
            <a:avLst/>
          </a:prstGeom>
          <a:solidFill>
            <a:srgbClr val="DE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5845D4C9-5249-4694-9B85-C5361D6CB1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6" r="25097" b="17760"/>
          <a:stretch/>
        </p:blipFill>
        <p:spPr>
          <a:xfrm>
            <a:off x="874911" y="1257300"/>
            <a:ext cx="3935413" cy="4603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0AA1D0-8E90-44C4-9562-41C22EE9F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00B0C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1141B-7A45-42CD-9FA0-FA3F57FC2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296000"/>
            <a:ext cx="6172200" cy="45650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69E0FD-1890-46F8-8BC3-E9516C5E2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0046AD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DD326A-A223-4A66-8461-449419D2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E880D-16D1-4539-9948-C2240ACC59CA}" type="datetimeFigureOut">
              <a:rPr lang="fr-FR" smtClean="0"/>
              <a:t>18/04/2025</a:t>
            </a:fld>
            <a:endParaRPr lang="fr-FR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282F8-F662-4779-8227-5303B31DC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3B61E-AAF7-4610-9B1C-353FB2AD5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61154-064F-4AC5-84EA-549FDD985C1D}" type="slidenum">
              <a:rPr lang="fr-FR" smtClean="0"/>
              <a:t>‹#›</a:t>
            </a:fld>
            <a:endParaRPr lang="fr-FR"/>
          </a:p>
        </p:txBody>
      </p:sp>
      <p:pic>
        <p:nvPicPr>
          <p:cNvPr id="9" name="Picture 8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05C6FF66-E984-4E86-BEB9-13DCCC338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993"/>
          <a:stretch/>
        </p:blipFill>
        <p:spPr>
          <a:xfrm>
            <a:off x="1" y="0"/>
            <a:ext cx="588854" cy="6858000"/>
          </a:xfrm>
          <a:prstGeom prst="rect">
            <a:avLst/>
          </a:prstGeom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D23D1AAF-D0ED-CC64-94F5-6391631E00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13" r="-1"/>
          <a:stretch/>
        </p:blipFill>
        <p:spPr>
          <a:xfrm>
            <a:off x="9781162" y="80160"/>
            <a:ext cx="1783964" cy="9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897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700C6-B419-416F-AF08-BBBA19493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AD13B6-6CFA-43ED-A013-5603EF1DBC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86444"/>
            <a:ext cx="6172200" cy="437460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F95694-4689-49CA-92F4-A8F884B73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5D2E4-52AC-40C7-83DE-BB12D5C90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E880D-16D1-4539-9948-C2240ACC59CA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6A3491-E6B6-4519-8AF0-E260E39E6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A53F7C-FA6A-46C2-A91A-51000F762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61154-064F-4AC5-84EA-549FDD985C1D}" type="slidenum">
              <a:rPr lang="fr-FR" smtClean="0"/>
              <a:t>‹#›</a:t>
            </a:fld>
            <a:endParaRPr lang="fr-F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A4F6D2-CD76-43F5-A681-3F113BDB5E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65906"/>
            <a:ext cx="12192000" cy="692094"/>
          </a:xfrm>
          <a:prstGeom prst="rect">
            <a:avLst/>
          </a:prstGeom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5DF056EE-9E5A-BC7E-9A2F-1B3E227F2B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13" r="-1"/>
          <a:stretch/>
        </p:blipFill>
        <p:spPr>
          <a:xfrm>
            <a:off x="9781162" y="80160"/>
            <a:ext cx="1783964" cy="9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286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theme/theme1.xml" Type="http://schemas.openxmlformats.org/officeDocument/2006/relationships/theme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319846-29D1-46FA-A4B4-F51045673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fr-FR"/>
              <a:t>Modifiez le style du titre</a:t>
            </a:r>
            <a:endParaRPr dirty="0"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A294C-9B27-49AE-9128-3696CDEB78D1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dirty="0"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656F4-F81B-4402-9B07-9F7FD5977B1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E880D-16D1-4539-9948-C2240ACC59CA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CCE74-D5F7-4C92-B871-71638BD58A9C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9639-0815-4873-A2C3-3182144E7770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61154-064F-4AC5-84EA-549FDD985C1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206847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62" r:id="rId3"/>
    <p:sldLayoutId id="2147483663" r:id="rId4"/>
    <p:sldLayoutId id="2147483652" r:id="rId5"/>
    <p:sldLayoutId id="2147483661" r:id="rId6"/>
    <p:sldLayoutId id="2147483651" r:id="rId7"/>
    <p:sldLayoutId id="2147483654" r:id="rId8"/>
    <p:sldLayoutId id="2147483656" r:id="rId9"/>
    <p:sldLayoutId id="2147483657" r:id="rId10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rgbClr val="00B0CA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rgbClr val="0046AD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rgbClr val="0046AD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rgbClr val="0046AD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rgbClr val="0046AD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rgbClr val="0046AD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CA714-9302-4F78-8284-842B920EF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46" y="1891227"/>
            <a:ext cx="673608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Economics 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0BE79B-66B3-4535-868E-13C4FF6E637F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4829046" y="4441765"/>
            <a:ext cx="6736080" cy="5838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Understanding the Macroeconomy</a:t>
            </a:r>
            <a:br/>
            <a:br/>
            <a:r>
              <a:rPr/>
              <a:t>James Hogan, FAME - SPC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E2576-EA73-40E8-A2F2-A62B73E3CC2A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04 June 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B70209C-55AC-7EDB-1AE6-8DA0F85A81B0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923234" y="136524"/>
            <a:ext cx="10219239" cy="915635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Big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2EE8B-A420-482C-AA8F-161CF5617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And what is economics anyway?</a:t>
            </a:r>
          </a:p>
          <a:p>
            <a:pPr lvl="0"/>
            <a:r>
              <a:rPr/>
              <a:t>If Macro means “big”, what’s Micro (“little”) economics?</a:t>
            </a:r>
          </a:p>
          <a:p>
            <a:pPr lvl="0"/>
            <a:r>
              <a:rPr/>
              <a:t>And where does microeconomics become macroeconomics?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B70209C-55AC-7EDB-1AE6-8DA0F85A81B0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923234" y="136524"/>
            <a:ext cx="10219239" cy="915635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is economics?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2EE8B-A420-482C-AA8F-161CF5617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Economics is about </a:t>
            </a:r>
            <a:r>
              <a:rPr i="1"/>
              <a:t>constrained optimisation</a:t>
            </a:r>
            <a:r>
              <a:rPr/>
              <a:t> and choice.</a:t>
            </a:r>
          </a:p>
          <a:p>
            <a:pPr lvl="0"/>
            <a:r>
              <a:rPr/>
              <a:t>Economics is the science of choice. Every choice</a:t>
            </a:r>
          </a:p>
          <a:p>
            <a:pPr lvl="0"/>
            <a:r>
              <a:rPr/>
              <a:t>The difference between macro and microeconomics economics is the scale of the choice, and the constraints involved.</a:t>
            </a:r>
          </a:p>
          <a:p>
            <a:pPr lvl="0"/>
            <a:r>
              <a:rPr/>
              <a:t>Every single choice is </a:t>
            </a:r>
            <a:r>
              <a:rPr b="1"/>
              <a:t>constrained</a:t>
            </a:r>
            <a:r>
              <a:rPr/>
              <a:t> by something.</a:t>
            </a:r>
          </a:p>
          <a:p>
            <a:pPr lvl="0" indent="-457200" marL="457200">
              <a:buAutoNum type="arabicPeriod"/>
            </a:pPr>
            <a:r>
              <a:rPr/>
              <a:t>Scarcity</a:t>
            </a:r>
          </a:p>
          <a:p>
            <a:pPr lvl="1"/>
            <a:r>
              <a:rPr/>
              <a:t>Resources (land, money, wealth and resource endowment)</a:t>
            </a:r>
          </a:p>
          <a:p>
            <a:pPr lvl="1"/>
            <a:r>
              <a:rPr/>
              <a:t>Time</a:t>
            </a:r>
          </a:p>
          <a:p>
            <a:pPr lvl="1"/>
            <a:r>
              <a:rPr/>
              <a:t>Capability and Technology</a:t>
            </a:r>
          </a:p>
          <a:p>
            <a:pPr lvl="0" indent="-457200" marL="457200">
              <a:buAutoNum type="arabicPeriod"/>
            </a:pPr>
            <a:r>
              <a:rPr/>
              <a:t>Uncertainty</a:t>
            </a:r>
          </a:p>
          <a:p>
            <a:pPr lvl="1"/>
            <a:r>
              <a:rPr/>
              <a:t>The Future State of the World</a:t>
            </a:r>
          </a:p>
          <a:p>
            <a:pPr lvl="1"/>
            <a:r>
              <a:rPr/>
              <a:t>Future time, future resources</a:t>
            </a:r>
          </a:p>
          <a:p>
            <a:pPr lvl="0" indent="-457200" marL="457200">
              <a:buAutoNum type="arabicPeriod"/>
            </a:pPr>
            <a:r>
              <a:rPr/>
              <a:t>System Responses</a:t>
            </a:r>
          </a:p>
          <a:p>
            <a:pPr lvl="1"/>
            <a:r>
              <a:rPr/>
              <a:t>How will competitors respond?</a:t>
            </a:r>
          </a:p>
          <a:p>
            <a:pPr lvl="1"/>
            <a:r>
              <a:rPr/>
              <a:t>How will prices change in the future (and make something affordable/unaffordable?)</a:t>
            </a:r>
          </a:p>
          <a:p>
            <a:pPr lvl="1"/>
            <a:r>
              <a:rPr/>
              <a:t>How quickly will resources renew - if ever?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6008A5D2-D9D8-987B-E3D9-B66316B5AA17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967408" y="136525"/>
            <a:ext cx="10175065" cy="817632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Micro / Macro economic?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02A15-9DC6-4F18-A8CA-822A6ECB321F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Micro Economics: how do people and firms operate?</a:t>
            </a:r>
          </a:p>
          <a:p>
            <a:pPr lvl="0"/>
            <a:r>
              <a:rPr/>
              <a:t>Consumer demand</a:t>
            </a:r>
          </a:p>
          <a:p>
            <a:pPr lvl="1"/>
            <a:r>
              <a:rPr/>
              <a:t>How do I maximise my happiness (utility), subject to my available resources (my income)?</a:t>
            </a:r>
          </a:p>
          <a:p>
            <a:pPr lvl="0"/>
            <a:r>
              <a:rPr/>
              <a:t>Economic production</a:t>
            </a:r>
          </a:p>
          <a:p>
            <a:pPr lvl="1"/>
            <a:r>
              <a:rPr/>
              <a:t>How do I make the most widgets, subject to my workforce, and machinery (“capital”)?</a:t>
            </a:r>
          </a:p>
          <a:p>
            <a:pPr lvl="0"/>
            <a:r>
              <a:rPr/>
              <a:t>Exchange</a:t>
            </a:r>
          </a:p>
          <a:p>
            <a:pPr lvl="1"/>
            <a:r>
              <a:rPr/>
              <a:t>If I make widgets, and you make gadgets, how do we trade gadgets for widgets and at what price?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B36924-1628-4793-A109-B217B6E4E9B8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Macro Economics: how do countries operate?</a:t>
            </a:r>
          </a:p>
          <a:p>
            <a:pPr lvl="0"/>
            <a:r>
              <a:rPr/>
              <a:t>Economic Development</a:t>
            </a:r>
          </a:p>
          <a:p>
            <a:pPr lvl="1"/>
            <a:r>
              <a:rPr/>
              <a:t>Why are some countries wealtier than others, and how did that happen?</a:t>
            </a:r>
          </a:p>
          <a:p>
            <a:pPr lvl="0"/>
            <a:r>
              <a:rPr/>
              <a:t>Labour Markets and Economic Growth</a:t>
            </a:r>
          </a:p>
          <a:p>
            <a:pPr lvl="1"/>
            <a:r>
              <a:rPr/>
              <a:t>Why are people unemployed? Why can’t everybody get a job?</a:t>
            </a:r>
          </a:p>
          <a:p>
            <a:pPr lvl="1"/>
            <a:r>
              <a:rPr/>
              <a:t>Why is America rich and Tuvalu poor?</a:t>
            </a:r>
          </a:p>
          <a:p>
            <a:pPr lvl="0"/>
            <a:r>
              <a:rPr/>
              <a:t>International Trade</a:t>
            </a:r>
          </a:p>
          <a:p>
            <a:pPr lvl="1"/>
            <a:r>
              <a:rPr/>
              <a:t>What’s the kaffufle about tariffs?</a:t>
            </a:r>
          </a:p>
          <a:p>
            <a:pPr lvl="1"/>
            <a:r>
              <a:rPr/>
              <a:t>Why does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2" id="{D6266FE2-2F15-2D4C-9C69-08CD112CF84C}" vid="{2C19B3E1-288E-0B47-B6F6-9F73CBD08D9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SPC_R_template</Template>
  <TotalTime>16</TotalTime>
  <Words>1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Blank</vt:lpstr>
      <vt:lpstr>+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Economics Training</dc:title>
  <dc:creator>James Hogan, FAME - SPC</dc:creator>
  <cp:keywords/>
  <dcterms:created xsi:type="dcterms:W3CDTF">2025-06-04T02:43:05Z</dcterms:created>
  <dcterms:modified xsi:type="dcterms:W3CDTF">2025-06-04T02:43:05Z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04 June 2025</vt:lpwstr>
  </property>
  <property fmtid="{D5CDD505-2E9C-101B-9397-08002B2CF9AE}" pid="3" name="output">
    <vt:lpwstr/>
  </property>
  <property fmtid="{D5CDD505-2E9C-101B-9397-08002B2CF9AE}" pid="4" name="subtitle">
    <vt:lpwstr>Understanding the Macroeconomy</vt:lpwstr>
  </property>
</Properties>
</file>